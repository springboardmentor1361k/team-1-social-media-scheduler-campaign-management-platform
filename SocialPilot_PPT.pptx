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5FEDC-0909-4AF7-9EDE-BDBC65688586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3B161-B493-47B6-AD5E-B9071AA4DD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321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3B161-B493-47B6-AD5E-B9071AA4DDB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524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F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rial"/>
              </a:rPr>
              <a:t>SOCIALPILOT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2E1F5"/>
                </a:solidFill>
                <a:latin typeface="Arial"/>
              </a:rPr>
              <a:t>Social Media Scheduler &amp; Campaign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6B5CA"/>
                </a:solidFill>
                <a:latin typeface="Arial"/>
              </a:rPr>
              <a:t>GROUP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A centralized workspace for content, scheduling, campaigns, analytics and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8020" y="717853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F2346"/>
                </a:solidFill>
                <a:latin typeface="Arial"/>
              </a:rPr>
              <a:t>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258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86600" y="1325880"/>
            <a:ext cx="50292" cy="713232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51192" y="14721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2346"/>
                </a:solidFill>
                <a:latin typeface="Arial"/>
              </a:rPr>
              <a:t>Vaishnavi Yerramilli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51192" y="1828800"/>
            <a:ext cx="41148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32D3E"/>
                </a:solidFill>
                <a:latin typeface="Arial"/>
              </a:rPr>
              <a:t>Team Lead • Core Integration • Dashboard • Deployment •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2402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86600" y="2240280"/>
            <a:ext cx="50292" cy="713232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51192" y="23865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2346"/>
                </a:solidFill>
                <a:latin typeface="Arial"/>
              </a:rPr>
              <a:t>Lakshmi Supriya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2743200"/>
            <a:ext cx="41148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32D3E"/>
                </a:solidFill>
                <a:latin typeface="Arial"/>
              </a:rPr>
              <a:t>Authentication • User Management •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1546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86600" y="3154680"/>
            <a:ext cx="50292" cy="713232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51192" y="33009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2346"/>
                </a:solidFill>
                <a:latin typeface="Arial"/>
              </a:rPr>
              <a:t>Jaya Durga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3657600"/>
            <a:ext cx="41148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32D3E"/>
                </a:solidFill>
                <a:latin typeface="Arial"/>
              </a:rPr>
              <a:t>Campaign Management • Content Scheduling • Scheduler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40690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86600" y="4069080"/>
            <a:ext cx="50292" cy="713232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51192" y="42153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2346"/>
                </a:solidFill>
                <a:latin typeface="Arial"/>
              </a:rPr>
              <a:t>Sowjanya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4572000"/>
            <a:ext cx="41148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32D3E"/>
                </a:solidFill>
                <a:latin typeface="Arial"/>
              </a:rPr>
              <a:t>Social Accounts • Mock OAuth • UI/UX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4983480"/>
            <a:ext cx="43891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086600" y="4983480"/>
            <a:ext cx="50292" cy="713232"/>
          </a:xfrm>
          <a:prstGeom prst="rect">
            <a:avLst/>
          </a:prstGeom>
          <a:solidFill>
            <a:srgbClr val="785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51192" y="512978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0F2346"/>
                </a:solidFill>
                <a:latin typeface="Arial"/>
              </a:rPr>
              <a:t>Susmitha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5486400"/>
            <a:ext cx="411480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32D3E"/>
                </a:solidFill>
                <a:latin typeface="Arial"/>
              </a:rPr>
              <a:t>Analytics • Reports •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Project Overview &amp; Proposed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Problem → centralized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41732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4937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Managing multiple social channels, campaigns, schedules and performance data can become fragmented and time-consuming.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5212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063240"/>
            <a:ext cx="50292" cy="141732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1" y="32095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3566160"/>
            <a:ext cx="49377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SocialPilot brings social accounts, content, scheduling, campaigns, analytics, reports and notifications into one user-scoped workspace.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" y="5074920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9100" y="525780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523951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92452" y="5056632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132076" y="5239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18332" y="521208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2652" y="5056632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5230368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4148" y="5230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2184" y="5059483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5239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30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5074920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5239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230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5074920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5239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Campaigns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5230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66960" y="5074920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012680" y="5239512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Analytics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523036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58500" y="5897880"/>
            <a:ext cx="123444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949940" y="608076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Technology Stack — Why &amp;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Only the technologies used by SocialPilot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533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353312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5331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682495"/>
            <a:ext cx="10972800" cy="42062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React.js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719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Reusable component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190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Pages, dashboard and reusable UI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14883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4883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Fast frontend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Development server and production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542032"/>
            <a:ext cx="10972800" cy="42062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257860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Tailwind 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57860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Responsive styling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7860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Consistent application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0837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FastAPI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00837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Lightweight Python API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0837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REST endpoints and backend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401568"/>
            <a:ext cx="10972800" cy="42062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3438144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SQLAlchemy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438144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ORM abstraction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43814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Models and database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867911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867911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Stateless authentication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867911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Protected API requests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261103"/>
            <a:ext cx="10972800" cy="42062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297679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Axios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297679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Frontend/API 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29767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Calls FastAPI endpoints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27448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PostgreSQL / Supabase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31720" y="4727448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Production persistence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274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Application data storage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120640"/>
            <a:ext cx="10972800" cy="42062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5157216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Vercel / Render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31720" y="5157216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Cloud 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5721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Frontend / backend hosting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586983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1">
                <a:solidFill>
                  <a:srgbClr val="0F2346"/>
                </a:solidFill>
                <a:latin typeface="Arial"/>
              </a:rPr>
              <a:t>Git / GitHub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5586983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Version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586983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32D3E"/>
                </a:solidFill>
                <a:latin typeface="Arial"/>
              </a:rPr>
              <a:t>Branches, commits and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System Architecture &amp;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How the application layers work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6305" y="1623060"/>
            <a:ext cx="1258701" cy="57150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274" y="1764792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59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82176" y="1620602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27897" y="1805940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620602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33837" y="1783080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Axios / 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59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71196" y="1561166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257799" y="1726987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0F2346"/>
                </a:solidFill>
                <a:latin typeface="Arial"/>
              </a:rPr>
              <a:t>FastAPI</a:t>
            </a:r>
            <a:endParaRPr sz="1000" b="1" dirty="0">
              <a:solidFill>
                <a:srgbClr val="0F2346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0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79" y="1544107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9295" y="1706585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JWT +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1523705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3981" y="1668780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0F2346"/>
                </a:solidFill>
                <a:latin typeface="Arial"/>
              </a:rPr>
              <a:t>SQLAlchemy</a:t>
            </a:r>
            <a:endParaRPr sz="1000" b="1" dirty="0">
              <a:solidFill>
                <a:srgbClr val="0F2346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0" y="175564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84180" y="1530538"/>
            <a:ext cx="150876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698481" y="1713664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PostgreSQL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260604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2606040"/>
            <a:ext cx="50292" cy="242316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1" y="27523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" y="3108960"/>
            <a:ext cx="493776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Frontend handles pages and UI state. Axios communicates with FastAPI. FastAPI validates requests, authenticates users and runs business logic. SQLAlchemy persists data in the relational database.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606040"/>
            <a:ext cx="52120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2606040"/>
            <a:ext cx="50292" cy="24231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27523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Core Database Entities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3108960"/>
            <a:ext cx="493776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User → SocialAccount
User → Campaign → Post
Post → Analytics
User → Notifications
All user-owned records are filtered using authenticated user_id.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56235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2346"/>
                </a:solidFill>
                <a:latin typeface="Arial"/>
              </a:rPr>
              <a:t>Local development: SQLite   •   Production: PostgreSQL / Supabase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Authentication &amp;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Two core entry-point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0292" cy="105156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Registration, login, profile management and protected access identify the current 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React forms → FastAPI auth → bcrypt password hashing → JWT → protected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08191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47082"/>
                </a:solidFill>
                <a:latin typeface="Arial"/>
              </a:rPr>
              <a:t>Original registration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1481328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Central overview of accounts, campaigns, posts and scheduled activity.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Dashboard components request aggregated data through Axios; FastAPI returns user-scoped statistics.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6108191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47082"/>
                </a:solidFill>
                <a:latin typeface="Arial"/>
              </a:rPr>
              <a:t>Original dashboard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9E4CE909-FA1A-F48F-78EF-BAC4803ED0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48" t="4645" r="18019" b="6191"/>
          <a:stretch>
            <a:fillRect/>
          </a:stretch>
        </p:blipFill>
        <p:spPr>
          <a:xfrm>
            <a:off x="2204736" y="3930002"/>
            <a:ext cx="2512536" cy="263347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2CF9480-1ED9-F2F2-DE21-328AB1C9E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877" y="3831336"/>
            <a:ext cx="5499547" cy="2613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Social Accounts &amp; Content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Connect channels and manage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View, connect and disconnect social accounts in one place.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SocialAccounts UI → FastAPI social-account endpoints → social_accounts table. Current connection is Mock OAuth / demo 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108191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47082"/>
                </a:solidFill>
                <a:latin typeface="Arial"/>
              </a:rPr>
              <a:t>Original social accounts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9632" y="1481328"/>
            <a:ext cx="50292" cy="105156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Create and manage content that can be linked to campaigns and scheduled.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React form → Axios → FastAPI → SQLAlchemy → posts 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4B4FE66-8138-65C9-2072-BAD8BF58A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296" y="4117010"/>
            <a:ext cx="6251841" cy="22371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Scheduler &amp; Campaign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Plan content and organize campaigns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Choose date/time, view scheduled posts and manage scheduling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Scheduler + Calendar UI → scheduler API → normalized dates → posts table. Publishing is simulated; no live social API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1747"/>
            <a:ext cx="5029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100" b="1" dirty="0">
              <a:solidFill>
                <a:srgbClr val="647082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4360" y="6108191"/>
            <a:ext cx="53949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850" b="0" dirty="0">
              <a:solidFill>
                <a:srgbClr val="647082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99632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481328"/>
            <a:ext cx="50292" cy="1051560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Create, view, update and delete campaigns and associate related content.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Campaign UI → campaign service → FastAPI → SQLAlchemy → campaigns table.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FB62A3F-0CDA-F343-40F7-B1E10354B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93" y="3788828"/>
            <a:ext cx="4323267" cy="304087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62D2C0C-F28A-9D71-54A5-76E0DC344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81" y="4007430"/>
            <a:ext cx="5152181" cy="2445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Analytics &amp;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Turn stored data into performance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0292" cy="1051560"/>
          </a:xfrm>
          <a:prstGeom prst="rect">
            <a:avLst/>
          </a:prstGeom>
          <a:solidFill>
            <a:srgbClr val="785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Visualizes engagement, reach, impressions, clicks and campaign performance where implemented.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Database metrics → FastAPI analytics endpoints → Axios → React charts/summary cards.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481328"/>
            <a:ext cx="50292" cy="1051560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Provides filtered performance/post data and downloadable CSV reports where implemented.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Reports UI → fetch data → client-side filtering → CSV formatting → download.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8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711F59F-D767-E5B1-2E18-8F335460A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50" y="3949350"/>
            <a:ext cx="5408742" cy="256203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9067A25-8039-46D1-629F-4789B525D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159" y="3949350"/>
            <a:ext cx="5710770" cy="271105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Notifications, Settings &amp;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Supporting modules that complete the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81328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Displays activity, campaign and scheduling alerts with read/unread actions where implemented.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Notification UI/context → FastAPI notifications endpoints → notifications table → UI refresh.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1481328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481328"/>
            <a:ext cx="50292" cy="105156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64224" y="16276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What it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984248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32D3E"/>
                </a:solidFill>
                <a:latin typeface="Arial"/>
              </a:rPr>
              <a:t>Settings supports theme/profile-related controls; global search finds user-owned campaigns, posts and notifications.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79192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99632" y="2679192"/>
            <a:ext cx="50292" cy="1051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282549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2346"/>
                </a:solidFill>
                <a:latin typeface="Arial"/>
              </a:rPr>
              <a:t>How it is implemented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182112"/>
            <a:ext cx="51206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0">
                <a:solidFill>
                  <a:srgbClr val="232D3E"/>
                </a:solidFill>
                <a:latin typeface="Arial"/>
              </a:rPr>
              <a:t>Theme state uses localStorage; search sends query + authenticated user_id to the search endpoint.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9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B7C768-6FA7-CF76-752F-B2AF63075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018542"/>
            <a:ext cx="4829687" cy="242365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3DB3CC7-26C5-8E13-094E-3CB0BA8B2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023" y="3909062"/>
            <a:ext cx="5548329" cy="2642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Frontend &amp; Backend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How the codebase is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5257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50292" cy="338328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60934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65960"/>
            <a:ext cx="49834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3E"/>
                </a:solidFill>
                <a:latin typeface="Arial"/>
              </a:rPr>
              <a:t>• React + Vite
• React Router for page navigation
• Tailwind CSS for styling
• Reusable components and layouts
• Context/hooks for shared state
• Axios service modules for API calls
• Pages for dashboard, accounts, campaigns, scheduler, analytics, reports and notifications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578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0292" cy="338328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609344"/>
            <a:ext cx="4983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65960"/>
            <a:ext cx="498348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32D3E"/>
                </a:solidFill>
                <a:latin typeface="Arial"/>
              </a:rPr>
              <a:t>• FastAPI REST endpoints
• Routers for auth, users, social accounts, campaigns, scheduler, analytics, notifications and search
• Pydantic validation
• JWT authentication dependencies
• SQLAlchemy models/queries
• User-scoped CRUD operations
• SQLite locally; PostgreSQL/Supabase in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74519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504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39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Axios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504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20640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66359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504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59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79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JWT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504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58200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SQLAlchemy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55046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349240"/>
            <a:ext cx="1325880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04120" y="5513831"/>
            <a:ext cx="12344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Frontend ↔ Backend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Example: scheduling a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User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84248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04287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2735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77056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22776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Axios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5544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41264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14032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59752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JWT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19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0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SQLAlchemy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96728" y="1719072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2346"/>
                </a:solidFill>
                <a:latin typeface="Arial"/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95176" y="170992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6B5CA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25328" y="2619117"/>
            <a:ext cx="1298448" cy="594360"/>
          </a:xfrm>
          <a:prstGeom prst="roundRect">
            <a:avLst/>
          </a:prstGeom>
          <a:solidFill>
            <a:srgbClr val="F5F8FC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9" y="2821416"/>
            <a:ext cx="120700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F2346"/>
                </a:solidFill>
                <a:latin typeface="Arial"/>
              </a:rPr>
              <a:t>JSON Response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6" y="4206240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Rectangle 31"/>
          <p:cNvSpPr/>
          <p:nvPr/>
        </p:nvSpPr>
        <p:spPr>
          <a:xfrm>
            <a:off x="611505" y="4253435"/>
            <a:ext cx="50292" cy="219456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2406" y="429994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F2346"/>
                </a:solidFill>
                <a:latin typeface="Arial"/>
              </a:rPr>
              <a:t>Step-by-step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448" y="4736593"/>
            <a:ext cx="493776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1. User enters content and date/time.
2. React sends the request through Axios.
3. FastAPI validates the request and JWT.
4. Backend applies user_id filtering and business rules.
5. SQLAlchemy stores/updates the record.
6. JSON response updates the React UI.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4190705"/>
            <a:ext cx="52120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48283" y="4253435"/>
            <a:ext cx="50292" cy="219456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0317" y="435755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F2346"/>
                </a:solidFill>
                <a:latin typeface="Arial"/>
              </a:rPr>
              <a:t>Why this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736592"/>
            <a:ext cx="493776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Separation of UI, API, business logic and persistence makes the project modular, easier to test and easier to extend with real social APIs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Verified project-level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097280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Registration, login, JWT protection and user-scoped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50292" cy="109728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636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CRUD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92024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Campaign, post, social-account and notification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346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834640"/>
            <a:ext cx="50292" cy="109728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29809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Multi-user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33756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Seeded users were used to verify one user's operations do not affect another user's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346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834640"/>
            <a:ext cx="50292" cy="1097280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29809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Frontend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33756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Vite production build was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251960"/>
            <a:ext cx="50292" cy="1097280"/>
          </a:xfrm>
          <a:prstGeom prst="rect">
            <a:avLst/>
          </a:prstGeom>
          <a:solidFill>
            <a:srgbClr val="785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" y="4398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API /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75488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Core endpoint workflows and backend health were checked.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2519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4251960"/>
            <a:ext cx="50292" cy="109728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28232" y="43982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4754880"/>
            <a:ext cx="4937760" cy="47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232D3E"/>
                </a:solidFill>
                <a:latin typeface="Arial"/>
              </a:rPr>
              <a:t>Frontend, backend and production database configuration were validated.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Deployment &amp; Milestone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From local development to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141732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React/Vite → Vercel
Verified frontend: social-path.vercel.app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417320"/>
            <a:ext cx="50292" cy="141732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563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2024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FastAPI/Uvicorn → Render
Production API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50292" cy="1417320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56362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920240"/>
            <a:ext cx="3108960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32D3E"/>
                </a:solidFill>
                <a:latin typeface="Arial"/>
              </a:rPr>
              <a:t>PostgreSQL / Supabase
Production persistent storage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337560"/>
            <a:ext cx="50292" cy="1234440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022" y="3427481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2346"/>
                </a:solidFill>
                <a:latin typeface="Arial"/>
              </a:rPr>
              <a:t>M1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" y="3710226"/>
            <a:ext cx="2331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/>
              <a:t>A functional project foundation was established with the frontend, backend, database layer, authentication system, and initial dashboard successfully integrated.</a:t>
            </a:r>
            <a:endParaRPr sz="950" b="0" dirty="0">
              <a:solidFill>
                <a:srgbClr val="232D3E"/>
              </a:solidFill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493008" y="333756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93008" y="3337560"/>
            <a:ext cx="50292" cy="1234440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0" y="340156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0168" y="3616761"/>
            <a:ext cx="2331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/>
              <a:t>A functional content management and scheduling workflow was developed, allowing users to create content, associate it with campaigns, select scheduling dates/times, and manage scheduled posts through the dashboard.</a:t>
            </a:r>
            <a:endParaRPr sz="950" b="0" dirty="0">
              <a:solidFill>
                <a:srgbClr val="232D3E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345936" y="333756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345936" y="3337560"/>
            <a:ext cx="50292" cy="1234440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6812" y="3404813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46"/>
                </a:solidFill>
                <a:latin typeface="Arial"/>
              </a:rPr>
              <a:t>M3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602996"/>
            <a:ext cx="23317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/>
              <a:t>Campaign management and analytics capabilities were integrated, enabling users to create and manage campaigns, track campaign-related content, and visualize performance metrics through the analytics dashboard and reports.</a:t>
            </a:r>
            <a:endParaRPr sz="950" b="0" dirty="0">
              <a:solidFill>
                <a:srgbClr val="232D3E"/>
              </a:solidFill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198863" y="3337560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98863" y="3337560"/>
            <a:ext cx="50292" cy="1234440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36024" y="3370365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F2346"/>
                </a:solidFill>
                <a:latin typeface="Arial"/>
              </a:rPr>
              <a:t>M4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36023" y="3616761"/>
            <a:ext cx="23317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000" dirty="0"/>
              <a:t>The completed application was validated through functional and integration testing, multi-user data isolation checks, production build validation, deployment, and project documentation.</a:t>
            </a:r>
            <a:endParaRPr sz="950" b="0" dirty="0">
              <a:solidFill>
                <a:srgbClr val="232D3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Outcomes,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What is delivered and what comes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50292" cy="3566160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Outcomes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20240"/>
            <a:ext cx="320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D3E"/>
                </a:solidFill>
                <a:latin typeface="Arial"/>
              </a:rPr>
              <a:t>• Centralized social workflow
• User-scoped data
• Scheduling and campaign management
• Analytics and reports
• Notifications and search
• Modular frontend/backend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417320"/>
            <a:ext cx="50292" cy="3566160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5424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Current 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920240"/>
            <a:ext cx="3200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D3E"/>
                </a:solidFill>
                <a:latin typeface="Arial"/>
              </a:rPr>
              <a:t>• Social connections use Mock OAuth / demo flow
• Real platform OAuth needs official developer accounts/API credentials
• Live social-media publishing is not implemented
• Some preference controls are currently client-side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41732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417320"/>
            <a:ext cx="50292" cy="3566160"/>
          </a:xfrm>
          <a:prstGeom prst="rect">
            <a:avLst/>
          </a:prstGeom>
          <a:solidFill>
            <a:srgbClr val="785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346"/>
                </a:solidFill>
                <a:latin typeface="Arial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920240"/>
            <a:ext cx="3200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232D3E"/>
                </a:solidFill>
                <a:latin typeface="Arial"/>
              </a:rPr>
              <a:t>• Real Instagram/Facebook/LinkedIn/X OAuth
• Real social API publishing
• Background workers for scheduling
• AI-assisted content
• Advanced analytics
• More exports and collaboration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F2346"/>
                </a:solidFill>
                <a:latin typeface="Arial"/>
              </a:rPr>
              <a:t>Team Contributions &amp;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960120"/>
            <a:ext cx="685800" cy="41148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48" y="1060704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Arial"/>
              </a:rPr>
              <a:t>Five-member delivery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Arial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082"/>
                </a:solidFill>
                <a:latin typeface="Arial"/>
              </a:rPr>
              <a:t>SocialPilot  |  Group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50292" cy="713232"/>
          </a:xfrm>
          <a:prstGeom prst="rect">
            <a:avLst/>
          </a:prstGeom>
          <a:solidFill>
            <a:srgbClr val="1E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517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F2346"/>
                </a:solidFill>
                <a:latin typeface="Arial"/>
              </a:rPr>
              <a:t>Vaishnavi Yerramilli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874519"/>
            <a:ext cx="49377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32D3E"/>
                </a:solidFill>
                <a:latin typeface="Arial"/>
              </a:rPr>
              <a:t>Team Lead • Core Integration • Dashboard • Deployment •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0292" cy="713232"/>
          </a:xfrm>
          <a:prstGeom prst="rect">
            <a:avLst/>
          </a:prstGeom>
          <a:solidFill>
            <a:srgbClr val="26B5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517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F2346"/>
                </a:solidFill>
                <a:latin typeface="Arial"/>
              </a:rPr>
              <a:t>Lakshmi Supriya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49377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32D3E"/>
                </a:solidFill>
                <a:latin typeface="Arial"/>
              </a:rPr>
              <a:t>Authentication • User Management • Notifications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2860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2286000"/>
            <a:ext cx="50292" cy="713232"/>
          </a:xfrm>
          <a:prstGeom prst="rect">
            <a:avLst/>
          </a:prstGeom>
          <a:solidFill>
            <a:srgbClr val="27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1" y="24323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F2346"/>
                </a:solidFill>
                <a:latin typeface="Arial"/>
              </a:rPr>
              <a:t>Jaya Durga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2788920"/>
            <a:ext cx="49377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32D3E"/>
                </a:solidFill>
                <a:latin typeface="Arial"/>
              </a:rPr>
              <a:t>Campaign Management • Content Scheduling • Scheduler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2860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286000"/>
            <a:ext cx="50292" cy="713232"/>
          </a:xfrm>
          <a:prstGeom prst="rect">
            <a:avLst/>
          </a:prstGeom>
          <a:solidFill>
            <a:srgbClr val="CD8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24323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F2346"/>
                </a:solidFill>
                <a:latin typeface="Arial"/>
              </a:rPr>
              <a:t>Sowjanya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788920"/>
            <a:ext cx="49377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32D3E"/>
                </a:solidFill>
                <a:latin typeface="Arial"/>
              </a:rPr>
              <a:t>Social Accounts • Mock OAuth • UI/UX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004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7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200400"/>
            <a:ext cx="50292" cy="713232"/>
          </a:xfrm>
          <a:prstGeom prst="rect">
            <a:avLst/>
          </a:prstGeom>
          <a:solidFill>
            <a:srgbClr val="785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1" y="33467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0F2346"/>
                </a:solidFill>
                <a:latin typeface="Arial"/>
              </a:rPr>
              <a:t>Susmitha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3703320"/>
            <a:ext cx="493776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232D3E"/>
                </a:solidFill>
                <a:latin typeface="Arial"/>
              </a:rPr>
              <a:t>Analytics • Reports • Visualization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8348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F2346"/>
                </a:solidFill>
                <a:latin typeface="Arial"/>
              </a:rPr>
              <a:t>Q  n 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6B5CA"/>
                </a:solidFill>
                <a:latin typeface="Arial"/>
              </a:rPr>
              <a:t>THANK YOU  •  </a:t>
            </a:r>
            <a:r>
              <a:rPr lang="en-IN" sz="1400" b="1" dirty="0">
                <a:solidFill>
                  <a:srgbClr val="26B5CA"/>
                </a:solidFill>
                <a:latin typeface="Arial"/>
              </a:rPr>
              <a:t>TEAM – 1 </a:t>
            </a:r>
            <a:r>
              <a:rPr sz="1400" b="1" dirty="0">
                <a:solidFill>
                  <a:srgbClr val="26B5CA"/>
                </a:solidFill>
                <a:latin typeface="Arial"/>
              </a:rPr>
              <a:t>SOCIALPILOT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1521</Words>
  <Application>Microsoft Office PowerPoint</Application>
  <PresentationFormat>Widescreen</PresentationFormat>
  <Paragraphs>269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yerramilli</cp:lastModifiedBy>
  <cp:revision>4</cp:revision>
  <dcterms:created xsi:type="dcterms:W3CDTF">2013-01-27T09:14:16Z</dcterms:created>
  <dcterms:modified xsi:type="dcterms:W3CDTF">2026-08-22T04:16:04Z</dcterms:modified>
  <cp:category/>
</cp:coreProperties>
</file>